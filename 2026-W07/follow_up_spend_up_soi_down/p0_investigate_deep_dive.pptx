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</p:sldIdLst>
  <p:sldSz cy="5143500" cx="9144000"/>
  <p:notesSz cx="6858000" cy="9144000"/>
  <p:embeddedFontLst>
    <p:embeddedFont>
      <p:font typeface="Montserrat SemiBold"/>
      <p:regular r:id="rId64"/>
      <p:bold r:id="rId65"/>
      <p:italic r:id="rId66"/>
      <p:boldItalic r:id="rId67"/>
    </p:embeddedFont>
    <p:embeddedFont>
      <p:font typeface="Montserrat"/>
      <p:regular r:id="rId68"/>
      <p:bold r:id="rId69"/>
      <p:italic r:id="rId70"/>
      <p:boldItalic r:id="rId71"/>
    </p:embeddedFont>
    <p:embeddedFont>
      <p:font typeface="Montserrat Medium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64" Type="http://schemas.openxmlformats.org/officeDocument/2006/relationships/font" Target="fonts/MontserratSemiBold-regular.fntdata"/><Relationship Id="rId65" Type="http://schemas.openxmlformats.org/officeDocument/2006/relationships/font" Target="fonts/MontserratSemiBold-bold.fntdata"/><Relationship Id="rId66" Type="http://schemas.openxmlformats.org/officeDocument/2006/relationships/font" Target="fonts/MontserratSemiBold-italic.fntdata"/><Relationship Id="rId67" Type="http://schemas.openxmlformats.org/officeDocument/2006/relationships/font" Target="fonts/MontserratSemiBold-boldItalic.fntdata"/><Relationship Id="rId68" Type="http://schemas.openxmlformats.org/officeDocument/2006/relationships/font" Target="fonts/Montserrat-regular.fntdata"/><Relationship Id="rId69" Type="http://schemas.openxmlformats.org/officeDocument/2006/relationships/font" Target="fonts/Montserrat-bold.fntdata"/><Relationship Id="rId70" Type="http://schemas.openxmlformats.org/officeDocument/2006/relationships/font" Target="fonts/Montserrat-italic.fntdata"/><Relationship Id="rId71" Type="http://schemas.openxmlformats.org/officeDocument/2006/relationships/font" Target="fonts/Montserrat-boldItalic.fntdata"/><Relationship Id="rId72" Type="http://schemas.openxmlformats.org/officeDocument/2006/relationships/font" Target="fonts/MontserratMedium-regular.fntdata"/><Relationship Id="rId73" Type="http://schemas.openxmlformats.org/officeDocument/2006/relationships/font" Target="fonts/MontserratMedium-bold.fntdata"/><Relationship Id="rId74" Type="http://schemas.openxmlformats.org/officeDocument/2006/relationships/font" Target="fonts/MontserratMedium-italic.fntdata"/><Relationship Id="rId75" Type="http://schemas.openxmlformats.org/officeDocument/2006/relationships/font" Target="fonts/Montserrat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1" type="title">
  <p:cSld name="TITLE">
    <p:bg>
      <p:bgPr>
        <a:gradFill>
          <a:gsLst>
            <a:gs pos="0">
              <a:schemeClr val="accent3"/>
            </a:gs>
            <a:gs pos="41000">
              <a:srgbClr val="0500AA"/>
            </a:gs>
            <a:gs pos="100000">
              <a:srgbClr val="040335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5" y="130188"/>
            <a:ext cx="8520600" cy="45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1400"/>
              <a:buFont typeface="Montserrat Medium"/>
              <a:buNone/>
              <a:defRPr sz="1400">
                <a:solidFill>
                  <a:srgbClr val="16D2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Montserrat Medium"/>
              <a:buNone/>
              <a:defRPr>
                <a:solidFill>
                  <a:srgbClr val="FF00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Montserrat Medium"/>
              <a:buNone/>
              <a:defRPr>
                <a:solidFill>
                  <a:srgbClr val="FF00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Montserrat Medium"/>
              <a:buNone/>
              <a:defRPr>
                <a:solidFill>
                  <a:srgbClr val="FF00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Montserrat Medium"/>
              <a:buNone/>
              <a:defRPr>
                <a:solidFill>
                  <a:srgbClr val="FF00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Montserrat Medium"/>
              <a:buNone/>
              <a:defRPr>
                <a:solidFill>
                  <a:srgbClr val="FF00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Montserrat Medium"/>
              <a:buNone/>
              <a:defRPr>
                <a:solidFill>
                  <a:srgbClr val="FF00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Montserrat Medium"/>
              <a:buNone/>
              <a:defRPr>
                <a:solidFill>
                  <a:srgbClr val="FF00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Montserrat Medium"/>
              <a:buNone/>
              <a:defRPr>
                <a:solidFill>
                  <a:srgbClr val="FF00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25001" y="4653149"/>
            <a:ext cx="312326" cy="279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311705" y="535988"/>
            <a:ext cx="8520600" cy="45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0" y="2380850"/>
            <a:ext cx="6585900" cy="104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None/>
              <a:defRPr sz="3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49705" y="1714738"/>
            <a:ext cx="85206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FB"/>
              </a:buClr>
              <a:buSzPts val="2000"/>
              <a:buNone/>
              <a:defRPr sz="2000">
                <a:solidFill>
                  <a:srgbClr val="0280FB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None/>
              <a:defRPr sz="2600">
                <a:solidFill>
                  <a:srgbClr val="FF00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None/>
              <a:defRPr sz="2600">
                <a:solidFill>
                  <a:srgbClr val="FF00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None/>
              <a:defRPr sz="2600">
                <a:solidFill>
                  <a:srgbClr val="FF00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None/>
              <a:defRPr sz="2600">
                <a:solidFill>
                  <a:srgbClr val="FF00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None/>
              <a:defRPr sz="2600">
                <a:solidFill>
                  <a:srgbClr val="FF00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None/>
              <a:defRPr sz="2600">
                <a:solidFill>
                  <a:srgbClr val="FF00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None/>
              <a:defRPr sz="2600">
                <a:solidFill>
                  <a:srgbClr val="FF00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600"/>
              <a:buNone/>
              <a:defRPr sz="2600">
                <a:solidFill>
                  <a:srgbClr val="FF00FF"/>
                </a:solidFill>
              </a:defRPr>
            </a:lvl9pPr>
          </a:lstStyle>
          <a:p/>
        </p:txBody>
      </p:sp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5001" y="4653149"/>
            <a:ext cx="312326" cy="279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49700" y="3851796"/>
            <a:ext cx="8520600" cy="3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1_1">
    <p:bg>
      <p:bgPr>
        <a:solidFill>
          <a:schemeClr val="dk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311700" y="1293238"/>
            <a:ext cx="6585900" cy="13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349705" y="578013"/>
            <a:ext cx="85206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2824" y="4587025"/>
            <a:ext cx="1162624" cy="48027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129850" y="4540775"/>
            <a:ext cx="66405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Montserrat Medium"/>
              <a:buNone/>
              <a:defRPr sz="13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Montserrat Medium"/>
              <a:buNone/>
              <a:defRPr sz="19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Montserrat Medium"/>
              <a:buNone/>
              <a:defRPr sz="19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Montserrat Medium"/>
              <a:buNone/>
              <a:defRPr sz="19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Montserrat Medium"/>
              <a:buNone/>
              <a:defRPr sz="19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Montserrat Medium"/>
              <a:buNone/>
              <a:defRPr sz="19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Montserrat Medium"/>
              <a:buNone/>
              <a:defRPr sz="19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Montserrat Medium"/>
              <a:buNone/>
              <a:defRPr sz="19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Montserrat Medium"/>
              <a:buNone/>
              <a:defRPr sz="19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311700" y="616775"/>
            <a:ext cx="8520600" cy="40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49700" y="289195"/>
            <a:ext cx="8520600" cy="26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311700" y="1477275"/>
            <a:ext cx="8429400" cy="29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2824" y="4587025"/>
            <a:ext cx="1162624" cy="48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">
    <p:bg>
      <p:bgPr>
        <a:gradFill>
          <a:gsLst>
            <a:gs pos="0">
              <a:schemeClr val="lt1"/>
            </a:gs>
            <a:gs pos="6900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1388100" y="705550"/>
            <a:ext cx="6367800" cy="361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30" name="Google Shape;3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89500" y="4316050"/>
            <a:ext cx="1565000" cy="6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311705" y="1022438"/>
            <a:ext cx="85206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MAIN_POINT_1">
    <p:bg>
      <p:bgPr>
        <a:gradFill>
          <a:gsLst>
            <a:gs pos="0">
              <a:srgbClr val="C368F9"/>
            </a:gs>
            <a:gs pos="41000">
              <a:srgbClr val="0500AA"/>
            </a:gs>
            <a:gs pos="100000">
              <a:srgbClr val="040335"/>
            </a:gs>
          </a:gsLst>
          <a:lin ang="13500032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311705" y="264938"/>
            <a:ext cx="85206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4" name="Google Shape;3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89500" y="4261950"/>
            <a:ext cx="1565000" cy="64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 3">
  <p:cSld name="MAIN_POINT_1_5">
    <p:bg>
      <p:bgPr>
        <a:gradFill>
          <a:gsLst>
            <a:gs pos="0">
              <a:srgbClr val="C368F9"/>
            </a:gs>
            <a:gs pos="41000">
              <a:srgbClr val="0500AA"/>
            </a:gs>
            <a:gs pos="100000">
              <a:srgbClr val="040335"/>
            </a:gs>
          </a:gsLst>
          <a:lin ang="13500032" scaled="0"/>
        </a:gra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25001" y="4653149"/>
            <a:ext cx="312326" cy="27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 2">
  <p:cSld name="MAIN_POINT_1_4">
    <p:bg>
      <p:bgPr>
        <a:gradFill>
          <a:gsLst>
            <a:gs pos="0">
              <a:srgbClr val="C368F9"/>
            </a:gs>
            <a:gs pos="47000">
              <a:srgbClr val="0500AA"/>
            </a:gs>
            <a:gs pos="100000">
              <a:srgbClr val="040335"/>
            </a:gs>
          </a:gsLst>
          <a:lin ang="8100019" scaled="0"/>
        </a:gra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1705" y="1066213"/>
            <a:ext cx="85206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89500" y="264950"/>
            <a:ext cx="1565000" cy="64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 2 1">
  <p:cSld name="MAIN_POINT_1_4_1">
    <p:bg>
      <p:bgPr>
        <a:gradFill>
          <a:gsLst>
            <a:gs pos="0">
              <a:srgbClr val="C368F9"/>
            </a:gs>
            <a:gs pos="47000">
              <a:srgbClr val="0500AA"/>
            </a:gs>
            <a:gs pos="100000">
              <a:srgbClr val="040335"/>
            </a:gs>
          </a:gsLst>
          <a:lin ang="8100019" scaled="0"/>
        </a:gra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25001" y="4653149"/>
            <a:ext cx="312326" cy="27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fabric">
  <p:cSld name="MAIN_POINT_1_3">
    <p:bg>
      <p:bgPr>
        <a:gradFill>
          <a:gsLst>
            <a:gs pos="0">
              <a:srgbClr val="0600BA"/>
            </a:gs>
            <a:gs pos="100000">
              <a:srgbClr val="040335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89500" y="4316050"/>
            <a:ext cx="1565000" cy="6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1"/>
          <p:cNvSpPr txBox="1"/>
          <p:nvPr>
            <p:ph type="title"/>
          </p:nvPr>
        </p:nvSpPr>
        <p:spPr>
          <a:xfrm>
            <a:off x="1388100" y="705550"/>
            <a:ext cx="6367800" cy="361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11"/>
          <p:cNvSpPr txBox="1"/>
          <p:nvPr>
            <p:ph idx="1" type="subTitle"/>
          </p:nvPr>
        </p:nvSpPr>
        <p:spPr>
          <a:xfrm>
            <a:off x="311705" y="1022438"/>
            <a:ext cx="85206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000"/>
              <a:buNone/>
              <a:defRPr sz="2000">
                <a:solidFill>
                  <a:srgbClr val="16D2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fabric 1">
  <p:cSld name="MAIN_POINT_1_3_1">
    <p:bg>
      <p:bgPr>
        <a:gradFill>
          <a:gsLst>
            <a:gs pos="0">
              <a:srgbClr val="0600BA"/>
            </a:gs>
            <a:gs pos="100000">
              <a:srgbClr val="040335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89500" y="4316050"/>
            <a:ext cx="1565000" cy="6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2"/>
          <p:cNvSpPr txBox="1"/>
          <p:nvPr>
            <p:ph type="title"/>
          </p:nvPr>
        </p:nvSpPr>
        <p:spPr>
          <a:xfrm>
            <a:off x="1388100" y="2403825"/>
            <a:ext cx="6367800" cy="19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311705" y="1753038"/>
            <a:ext cx="85206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000"/>
              <a:buNone/>
              <a:defRPr sz="2000">
                <a:solidFill>
                  <a:srgbClr val="16D2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D2FF"/>
              </a:buClr>
              <a:buSzPts val="2600"/>
              <a:buNone/>
              <a:defRPr sz="2600">
                <a:solidFill>
                  <a:srgbClr val="16D2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 1">
  <p:cSld name="MAIN_POINT_1_2">
    <p:bg>
      <p:bgPr>
        <a:gradFill>
          <a:gsLst>
            <a:gs pos="0">
              <a:srgbClr val="0600BA"/>
            </a:gs>
            <a:gs pos="100000">
              <a:srgbClr val="040335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5700" y="-33575"/>
            <a:ext cx="9144000" cy="5177100"/>
          </a:xfrm>
          <a:prstGeom prst="rect">
            <a:avLst/>
          </a:prstGeom>
          <a:noFill/>
          <a:ln>
            <a:noFill/>
          </a:ln>
        </p:spPr>
      </p:sp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89500" y="4316050"/>
            <a:ext cx="1565000" cy="6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1388100" y="705550"/>
            <a:ext cx="6367800" cy="361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5" y="1022438"/>
            <a:ext cx="85206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3">
  <p:cSld name="MAIN_POINT_1_1">
    <p:bg>
      <p:bgPr>
        <a:solidFill>
          <a:schemeClr val="dk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89500" y="4316050"/>
            <a:ext cx="1565000" cy="646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type="title"/>
          </p:nvPr>
        </p:nvSpPr>
        <p:spPr>
          <a:xfrm>
            <a:off x="1388100" y="705550"/>
            <a:ext cx="6367800" cy="361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5" y="1022438"/>
            <a:ext cx="8520600" cy="45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 sz="2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1">
  <p:cSld name="SECTION_TITLE_AND_DESCRIPTION">
    <p:bg>
      <p:bgPr>
        <a:gradFill>
          <a:gsLst>
            <a:gs pos="0">
              <a:schemeClr val="lt1"/>
            </a:gs>
            <a:gs pos="6900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gradFill>
            <a:gsLst>
              <a:gs pos="0">
                <a:srgbClr val="C368F9"/>
              </a:gs>
              <a:gs pos="47000">
                <a:srgbClr val="0500AA"/>
              </a:gs>
              <a:gs pos="100000">
                <a:srgbClr val="040335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265500" y="321050"/>
            <a:ext cx="4045200" cy="14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457200" spcFirstLastPara="1" rIns="45720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4" name="Google Shape;6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25001" y="4653149"/>
            <a:ext cx="312326" cy="27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Third">
  <p:cSld name="SECTION_TITLE_AND_DESCRIPTION_2">
    <p:bg>
      <p:bgPr>
        <a:gradFill>
          <a:gsLst>
            <a:gs pos="0">
              <a:schemeClr val="lt1"/>
            </a:gs>
            <a:gs pos="6900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2100" y="-125"/>
            <a:ext cx="3087300" cy="5143500"/>
          </a:xfrm>
          <a:prstGeom prst="rect">
            <a:avLst/>
          </a:prstGeom>
          <a:gradFill>
            <a:gsLst>
              <a:gs pos="0">
                <a:srgbClr val="C368F9"/>
              </a:gs>
              <a:gs pos="41000">
                <a:srgbClr val="0500AA"/>
              </a:gs>
              <a:gs pos="100000">
                <a:srgbClr val="04033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265500" y="321050"/>
            <a:ext cx="2565600" cy="14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265500" y="1576100"/>
            <a:ext cx="2565600" cy="24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3575875" y="724075"/>
            <a:ext cx="5200500" cy="3695100"/>
          </a:xfrm>
          <a:prstGeom prst="rect">
            <a:avLst/>
          </a:prstGeom>
        </p:spPr>
        <p:txBody>
          <a:bodyPr anchorCtr="0" anchor="ctr" bIns="0" lIns="457200" spcFirstLastPara="1" rIns="457200" wrap="square" tIns="0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70" name="Google Shape;7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5501" y="4676724"/>
            <a:ext cx="312326" cy="27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Third 1">
  <p:cSld name="SECTION_TITLE_AND_DESCRIPTION_2_1">
    <p:bg>
      <p:bgPr>
        <a:gradFill>
          <a:gsLst>
            <a:gs pos="0">
              <a:schemeClr val="lt1"/>
            </a:gs>
            <a:gs pos="6900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2100" y="-125"/>
            <a:ext cx="3087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265500" y="321050"/>
            <a:ext cx="2565600" cy="14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265500" y="1576100"/>
            <a:ext cx="2565600" cy="24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3575875" y="724075"/>
            <a:ext cx="5200500" cy="3695100"/>
          </a:xfrm>
          <a:prstGeom prst="rect">
            <a:avLst/>
          </a:prstGeom>
        </p:spPr>
        <p:txBody>
          <a:bodyPr anchorCtr="0" anchor="ctr" bIns="0" lIns="457200" spcFirstLastPara="1" rIns="457200" wrap="square" tIns="0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76" name="Google Shape;7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2824" y="4587025"/>
            <a:ext cx="1162624" cy="48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Third 1 1">
  <p:cSld name="SECTION_TITLE_AND_DESCRIPTION_2_1_1">
    <p:bg>
      <p:bgPr>
        <a:gradFill>
          <a:gsLst>
            <a:gs pos="0">
              <a:srgbClr val="C368F9"/>
            </a:gs>
            <a:gs pos="47000">
              <a:srgbClr val="0500AA"/>
            </a:gs>
            <a:gs pos="100000">
              <a:srgbClr val="040335"/>
            </a:gs>
          </a:gsLst>
          <a:lin ang="8100019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2100" y="-125"/>
            <a:ext cx="3087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265500" y="321050"/>
            <a:ext cx="2565600" cy="14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0" name="Google Shape;80;p18"/>
          <p:cNvSpPr txBox="1"/>
          <p:nvPr>
            <p:ph idx="1" type="subTitle"/>
          </p:nvPr>
        </p:nvSpPr>
        <p:spPr>
          <a:xfrm>
            <a:off x="265500" y="1576100"/>
            <a:ext cx="2565600" cy="24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1" name="Google Shape;8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25001" y="4653149"/>
            <a:ext cx="312326" cy="27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2">
  <p:cSld name="SECTION_TITLE_AND_DESCRIPTION_1">
    <p:bg>
      <p:bgPr>
        <a:gradFill>
          <a:gsLst>
            <a:gs pos="0">
              <a:schemeClr val="lt1"/>
            </a:gs>
            <a:gs pos="6900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gradFill>
            <a:gsLst>
              <a:gs pos="0">
                <a:srgbClr val="C368F9"/>
              </a:gs>
              <a:gs pos="41000">
                <a:srgbClr val="0500AA"/>
              </a:gs>
              <a:gs pos="100000">
                <a:srgbClr val="04033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65500" y="321050"/>
            <a:ext cx="4045200" cy="14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6" name="Google Shape;8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25001" y="4653149"/>
            <a:ext cx="312326" cy="27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3">
  <p:cSld name="SECTION_TITLE_AND_DESCRIPTION_1_1">
    <p:bg>
      <p:bgPr>
        <a:gradFill>
          <a:gsLst>
            <a:gs pos="0">
              <a:schemeClr val="lt1"/>
            </a:gs>
            <a:gs pos="6900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265500" y="321050"/>
            <a:ext cx="4045200" cy="14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457200" spcFirstLastPara="1" rIns="457200" wrap="square" tIns="0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92" name="Google Shape;9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2824" y="4587025"/>
            <a:ext cx="1162624" cy="48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Heavy">
  <p:cSld name="SECTION_TITLE_AND_DESCRIPTION_1_1_3">
    <p:bg>
      <p:bgPr>
        <a:gradFill>
          <a:gsLst>
            <a:gs pos="0">
              <a:schemeClr val="lt1"/>
            </a:gs>
            <a:gs pos="6900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/>
          <p:nvPr/>
        </p:nvSpPr>
        <p:spPr>
          <a:xfrm>
            <a:off x="0" y="-125"/>
            <a:ext cx="9144000" cy="930000"/>
          </a:xfrm>
          <a:prstGeom prst="rect">
            <a:avLst/>
          </a:prstGeom>
          <a:gradFill>
            <a:gsLst>
              <a:gs pos="0">
                <a:srgbClr val="C368F9"/>
              </a:gs>
              <a:gs pos="41000">
                <a:srgbClr val="0500AA"/>
              </a:gs>
              <a:gs pos="100000">
                <a:srgbClr val="040335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1"/>
          <p:cNvSpPr txBox="1"/>
          <p:nvPr>
            <p:ph type="title"/>
          </p:nvPr>
        </p:nvSpPr>
        <p:spPr>
          <a:xfrm>
            <a:off x="265500" y="282025"/>
            <a:ext cx="8593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" name="Google Shape;96;p21"/>
          <p:cNvSpPr txBox="1"/>
          <p:nvPr>
            <p:ph idx="1" type="subTitle"/>
          </p:nvPr>
        </p:nvSpPr>
        <p:spPr>
          <a:xfrm>
            <a:off x="265500" y="12144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7" name="Google Shape;9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25001" y="324899"/>
            <a:ext cx="312326" cy="27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Page Photo">
  <p:cSld name="SECTION_TITLE_AND_DESCRIPTION_1_1_2">
    <p:bg>
      <p:bgPr>
        <a:gradFill>
          <a:gsLst>
            <a:gs pos="0">
              <a:schemeClr val="lt1"/>
            </a:gs>
            <a:gs pos="6900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/>
          <p:nvPr>
            <p:ph idx="2" type="pic"/>
          </p:nvPr>
        </p:nvSpPr>
        <p:spPr>
          <a:xfrm>
            <a:off x="4571600" y="-20100"/>
            <a:ext cx="4572300" cy="51636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2"/>
          <p:cNvSpPr txBox="1"/>
          <p:nvPr>
            <p:ph type="title"/>
          </p:nvPr>
        </p:nvSpPr>
        <p:spPr>
          <a:xfrm>
            <a:off x="265500" y="321050"/>
            <a:ext cx="4045200" cy="14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1" name="Google Shape;10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2824" y="4587025"/>
            <a:ext cx="1162624" cy="48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Graph">
  <p:cSld name="SECTION_TITLE_AND_DESCRIPTION_1_1_1">
    <p:bg>
      <p:bgPr>
        <a:gradFill>
          <a:gsLst>
            <a:gs pos="0">
              <a:schemeClr val="lt1"/>
            </a:gs>
            <a:gs pos="69000">
              <a:schemeClr val="lt1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265500" y="321050"/>
            <a:ext cx="4045200" cy="148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5" name="Google Shape;105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45720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6" name="Google Shape;10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2824" y="4587025"/>
            <a:ext cx="1162624" cy="48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519108" y="4673692"/>
            <a:ext cx="548700" cy="393600"/>
          </a:xfrm>
          <a:prstGeom prst="rect">
            <a:avLst/>
          </a:prstGeom>
        </p:spPr>
        <p:txBody>
          <a:bodyPr anchorCtr="0" anchor="ctr" bIns="0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0475" y="255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0475" y="962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19108" y="46736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2800" b="1">
                <a:solidFill>
                  <a:srgbClr val="23272F"/>
                </a:solidFill>
                <a:latin typeface="Calibri"/>
              </a:defRPr>
            </a:pPr>
            <a:r>
              <a:t>P0 Investigate: Spend Up + SOI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Deep Dive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Benchmark (Dec 25-31) vs Jan / Feb / Mar MTD</a:t>
            </a:r>
            <a:br/>
            <a:r>
              <a:t>Criteria: Avg daily spend UP but SOI DOWN in March vs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TIKTOK_US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300" b="0">
                <a:solidFill>
                  <a:srgbClr val="BFDBFE"/>
                </a:solidFill>
                <a:latin typeface="Calibri"/>
              </a:defRPr>
            </a:pPr>
            <a:r>
              <a:t>Spend Up + SOI Down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TIKTOK_US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Spend &amp; SOI Trend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21031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017520"/>
          <a:ext cx="8412478" cy="12700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009497"/>
                <a:gridCol w="1514246"/>
                <a:gridCol w="1514246"/>
                <a:gridCol w="1514246"/>
                <a:gridCol w="1682496"/>
                <a:gridCol w="1177747"/>
              </a:tblGrid>
              <a:tr h="2540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Total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Avg Daily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Non-Moloco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$558,791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$79,827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100,541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39,578,796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$2,545,715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$82,120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385,628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242,607,273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$2,592,017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$92,572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315,077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286,415,280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$1,292,768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$99,444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142,537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130,004,176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TIKTOK_US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SOI Impact by App (Benchmark → Mar)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8412480" cy="40005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8100" cy="4000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760" y="848360"/>
            <a:ext cx="8209280" cy="34925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700" b="0">
                <a:solidFill>
                  <a:srgbClr val="475569"/>
                </a:solidFill>
                <a:latin typeface="Calibri"/>
              </a:defRPr>
            </a:pPr>
            <a:r>
              <a:t>SOI Impact = change in app's Moloco install share of total installs. Negative = unattributed installs growing faster. Highlighted = top spend apps (&gt;=10% share).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14450"/>
          <a:ext cx="8412475" cy="9144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850745"/>
                <a:gridCol w="925372"/>
                <a:gridCol w="925372"/>
                <a:gridCol w="1009497"/>
                <a:gridCol w="1345996"/>
                <a:gridCol w="1009497"/>
                <a:gridCol w="1345996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 Chg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Spend %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Impact (pp)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TikTok (JP)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+0.10%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$2,371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TikTok Lite - Faster TikTok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0.84%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-0.60%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$1,960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-0.016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TikTok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0.24%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0.11%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-0.13%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$95,295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95.7%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-0.133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TIKTOK_US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SOI vs Spend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TIKTOK_US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Data: Benchmark vs Monthly Trend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8412473" cy="8128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430121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</a:tblGrid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TikTok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$77,812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$80,131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$91,247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$95,295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TikTok Lite - Faster TikT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$2,015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0.84%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$1,988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0.77%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$1,325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$1,960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TikTok (JP)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$2,371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MICROFUN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300" b="0">
                <a:solidFill>
                  <a:srgbClr val="BFDBFE"/>
                </a:solidFill>
                <a:latin typeface="Calibri"/>
              </a:defRPr>
            </a:pPr>
            <a:r>
              <a:t>Spend Up + SOI Down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MICROFUN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Spend &amp; SOI Trend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21031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017520"/>
          <a:ext cx="8412478" cy="12700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009497"/>
                <a:gridCol w="1514246"/>
                <a:gridCol w="1514246"/>
                <a:gridCol w="1514246"/>
                <a:gridCol w="1682496"/>
                <a:gridCol w="1177747"/>
              </a:tblGrid>
              <a:tr h="2540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Total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Avg Daily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Non-Moloco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$428,885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$61,269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79,703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1,095,761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6.78%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$2,113,053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$68,163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460,466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8,387,616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5.20%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$3,053,689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$109,060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491,847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6,732,766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6.81%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$1,276,006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$98,154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170,492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2,770,709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5.80%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MICROFUN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SOI Impact by App (Benchmark → Mar)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8412480" cy="40005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8100" cy="4000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760" y="848360"/>
            <a:ext cx="8209280" cy="34925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700" b="0">
                <a:solidFill>
                  <a:srgbClr val="475569"/>
                </a:solidFill>
                <a:latin typeface="Calibri"/>
              </a:defRPr>
            </a:pPr>
            <a:r>
              <a:t>SOI Impact = change in app's Moloco install share of total installs. Negative = unattributed installs growing faster. Highlighted = top spend apps (&gt;=10% share).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14450"/>
          <a:ext cx="8412475" cy="9144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850745"/>
                <a:gridCol w="925372"/>
                <a:gridCol w="925372"/>
                <a:gridCol w="1009497"/>
                <a:gridCol w="1345996"/>
                <a:gridCol w="1009497"/>
                <a:gridCol w="1345996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 Chg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Spend %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Impact (pp)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Flambé: Merge and Cook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6.54%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+6.54%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$5,991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+0.274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Flambé: Merge &amp; Cook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4.74%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+4.74%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$4,953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+0.261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Gossip Harbor®: Merge &amp; Story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6.78%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5.83%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-0.95%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$87,211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88.9%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-1.519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MICROFUN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SOI vs Spend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MICROFUN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Data: Benchmark vs Monthly Trend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8412473" cy="8128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430121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</a:tblGrid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Gossip Harbor®: Merge &amp; S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$61,269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6.78%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$68,163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5.20%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$99,855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6.27%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$87,211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5.83%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Flambé: Merge and Cook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$5,121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6.36%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$5,991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6.54%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Flambé: Merge &amp; Cook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$4,792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14.75%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$4,953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4.74%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300" b="0">
                <a:solidFill>
                  <a:srgbClr val="BFDBFE"/>
                </a:solidFill>
                <a:latin typeface="Calibri"/>
              </a:defRPr>
            </a:pPr>
            <a:r>
              <a:t>Spend Up + SOI Down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Spend &amp; SOI Trend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21031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017520"/>
          <a:ext cx="8412478" cy="12700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009497"/>
                <a:gridCol w="1514246"/>
                <a:gridCol w="1514246"/>
                <a:gridCol w="1514246"/>
                <a:gridCol w="1682496"/>
                <a:gridCol w="1177747"/>
              </a:tblGrid>
              <a:tr h="2540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Total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Avg Daily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Non-Moloco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$176,174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$25,168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103,478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10,888,905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0.94%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$1,210,105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$39,036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554,959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51,649,161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1.06%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$2,237,231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$79,901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600,105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69,769,279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0.85%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$1,198,582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$92,199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264,535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35,486,514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0.74%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SOI Impact by App (Benchmark → Mar)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8412480" cy="40005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8100" cy="4000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760" y="848360"/>
            <a:ext cx="8209280" cy="34925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700" b="0">
                <a:solidFill>
                  <a:srgbClr val="475569"/>
                </a:solidFill>
                <a:latin typeface="Calibri"/>
              </a:defRPr>
            </a:pPr>
            <a:r>
              <a:t>SOI Impact = change in app's Moloco install share of total installs. Negative = unattributed installs growing faster. Highlighted = top spend apps (&gt;=10% share).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14450"/>
          <a:ext cx="8412475" cy="369189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850745"/>
                <a:gridCol w="925372"/>
                <a:gridCol w="925372"/>
                <a:gridCol w="1009497"/>
                <a:gridCol w="1345996"/>
                <a:gridCol w="1009497"/>
                <a:gridCol w="1345996"/>
              </a:tblGrid>
              <a:tr h="153828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 Chg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Spend %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Impact (pp)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Tile Explorer: Tiles Clear!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4.08%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+4.08%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$14,113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15.3%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+0.070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Mystery Town - Merge &amp; Cases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1.05%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7.84%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+6.78%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$12,779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13.8%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+0.016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Jigsawcard Solitaire Puzzle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+1.11%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$991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+0.008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Wood Block Puzzle: Brain Games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5.23%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+5.23%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$402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Zen Word® - Relax Puzzle Game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0.72%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+0.72%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$494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+0.006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Tile Explorer - Triple Match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$1,382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1.5%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com.oakever.coloraura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1.23%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4.88%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+3.64%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$1,837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Solitaire Word Fun!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1.67%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+1.67%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$391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Sudoku - Brain Puzzle Games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0.48%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1.38%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+0.90%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$869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com.oakever.solitaire.associat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0.09%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+0.09%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$310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+0.000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com.oakever.arrows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0.02%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+0.000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Match Busters 3D Matching Game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0.25%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0.32%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-0.000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Bible Coloring Paint by Number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1.16%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-1.16%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-0.001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Bible Coloring Paint By Number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1.49%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-1.49%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-0.002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Vita Mahjong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0.58%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1.09%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+0.50%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$52,956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57.3%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-0.004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Solitaire Classic Puzzle Game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14.04%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7.23%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-6.81%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$649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-0.004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Color Aura: Paint by Number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1.63%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1.54%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$173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-0.007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Vita Solitaire for Seniors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3.96%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1.54%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-2.42%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$299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-0.008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Jigsawscapes® - Jigsaw Puzzles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0.46%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-0.19%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$751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0.8%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-0.014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Zen Color - Color By Number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1.47%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1.02%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-0.45%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$606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-0.016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Sudoku - Classic Sudoku Puzzle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1.43%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1.31%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-0.12%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$1,859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-0.042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28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Paint by Number Coloring Game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5.22%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2.65%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-2.57%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$498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0.5%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-0.049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53846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Solitaire - Classic Card Games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14.39%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1.48%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-12.91%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$987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-0.172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SOI vs Spend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Data: Benchmark vs Monthly Trend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8412473" cy="41275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430121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</a:tblGrid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Vita Mahjong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$13,136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0.58%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$22,684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0.73%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$45,149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1.20%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$52,956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1.09%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Mystery Town - Merge &amp; Ca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$3,115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1.05%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$3,457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1.66%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$15,036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8.98%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$12,779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7.84%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Tile Explorer: Tiles Clea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$512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$4,872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1.92%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$14,113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4.08%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com.oakever.coloraura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$1,119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1.23%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$3,376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$5,734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6.58%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$1,837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4.88%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Sudoku - Classic Sudoku P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$1,062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1.43%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$1,247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$1,699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$1,859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1.31%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Solitaire - Classic Card 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$1,753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14.39%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$1,393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10.14%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$863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$987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1.48%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Paint by Number Coloring 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$1,333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5.22%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$1,640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$644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3.02%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$498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2.65%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Jigsawscapes® - Jigsaw Pu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$819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$1,184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0.71%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$776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0.60%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$751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Zen Color - Color By Numb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$905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1.47%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$1,109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1.29%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$819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$606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1.02%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Sudoku - Brain Puzzle Gam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$501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0.48%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$501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$735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0.85%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$869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1.38%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Color Aura: Paint by Numb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$600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1.63%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$1,025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2.69%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$785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2.87%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$173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1.54%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Jigsawcard Solitaire Puzz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$536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1.90%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$1,017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$991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Solitaire Classic Puzzle 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$382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14.04%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$463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12.73%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$554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11.99%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$649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7.23%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Tile Explorer - Triple Ma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$546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$1,382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Vita Solitaire for Senior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$150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3.96%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$302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1.99%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$210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2.13%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$299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1.54%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com.oakever.solitaire.ass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$457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0.36%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$310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0.09%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Solitaire Word Fun!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$166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0.76%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$391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1.67%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Zen Word® - Relax Puzzle 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$494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0.72%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Wood Block Puzzle: Brain 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$84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1.94%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$402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5.23%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com.oakever.jigsawcard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$153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2.58%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$141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Match Busters 3D Matching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0.33%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0.26%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0.32%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Bible Coloring Paint by N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$168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1.16%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Bible Coloring Paint By N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$123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1.49%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>
                        <a:defRPr sz="6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com.oakever.arrows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6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0.02%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ZerooGravity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300" b="0">
                <a:solidFill>
                  <a:srgbClr val="BFDBFE"/>
                </a:solidFill>
                <a:latin typeface="Calibri"/>
              </a:defRPr>
            </a:pPr>
            <a:r>
              <a:t>Spend Up + SOI Down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ZerooGravity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Spend &amp; SOI Trend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21031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017520"/>
          <a:ext cx="8412478" cy="12700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009497"/>
                <a:gridCol w="1514246"/>
                <a:gridCol w="1514246"/>
                <a:gridCol w="1514246"/>
                <a:gridCol w="1682496"/>
                <a:gridCol w="1177747"/>
              </a:tblGrid>
              <a:tr h="2540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Total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Avg Daily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Non-Moloco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$77,701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$11,100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3,392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54,651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$409,079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$13,196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20,854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630,342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3.20%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$543,533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$19,412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25,208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772,550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3.16%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$350,001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$26,923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13,843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276,236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4.77%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ZerooGravity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SOI Impact by App (Benchmark → Mar)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8412480" cy="40005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8100" cy="4000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760" y="848360"/>
            <a:ext cx="8209280" cy="34925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700" b="0">
                <a:solidFill>
                  <a:srgbClr val="475569"/>
                </a:solidFill>
                <a:latin typeface="Calibri"/>
              </a:defRPr>
            </a:pPr>
            <a:r>
              <a:t>SOI Impact = change in app's Moloco install share of total installs. Negative = unattributed installs growing faster. Highlighted = top spend apps (&gt;=10% share).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14450"/>
          <a:ext cx="8412475" cy="16002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850745"/>
                <a:gridCol w="925372"/>
                <a:gridCol w="925372"/>
                <a:gridCol w="1009497"/>
                <a:gridCol w="1345996"/>
                <a:gridCol w="1009497"/>
                <a:gridCol w="1345996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 Chg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Spend %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Impact (pp)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Jackpot Master™ Slots-Casino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7.36%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+7.36%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$3,852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14.3%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+0.744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Jackpot Master™ Slots - Casino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2.31%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+2.31%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$2,275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8.5%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+0.571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Jackpot Friends™ Slots Casino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2.67%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+2.67%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$697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2.6%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+0.205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Carnival Tycoon: Coin Games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+0.23%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$118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+0.057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Jackpot Friends™-Slots Casino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5.03%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8.24%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+3.21%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$3,872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14.4%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-0.936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Cash Tornado™ Slots - Casino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6.20%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10.07%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+3.87%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$16,109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59.8%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-1.713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ZerooGravity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SOI vs Spend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ZerooGravity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Data: Benchmark vs Monthly Trend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8412473" cy="14224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430121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</a:tblGrid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Cash Tornado™ Slots - Cas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$8,355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6.20%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$9,029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6.20%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$11,561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7.73%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$16,109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10.07%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Jackpot Friends™-Slots Ca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$2,745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5.03%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$3,306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6.17%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$3,656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5.96%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$3,872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8.24%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Jackpot Master™ Slots-Cas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$705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0.91%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$1,682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4.17%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$3,852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7.36%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Jackpot Master™ Slots - C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$953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0.90%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$2,119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1.87%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$2,275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2.31%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Jackpot Friends™ Slots Ca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$697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2.67%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Carnival Tycoon: Coin Gam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$132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0.95%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$394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0.62%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$118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0.23%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Mattel163_China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300" b="0">
                <a:solidFill>
                  <a:srgbClr val="BFDBFE"/>
                </a:solidFill>
                <a:latin typeface="Calibri"/>
              </a:defRPr>
            </a:pPr>
            <a:r>
              <a:t>Spend Up + SOI Down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Mattel163_China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Spend &amp; SOI Trend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21031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017520"/>
          <a:ext cx="8412478" cy="12700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009497"/>
                <a:gridCol w="1514246"/>
                <a:gridCol w="1514246"/>
                <a:gridCol w="1514246"/>
                <a:gridCol w="1682496"/>
                <a:gridCol w="1177747"/>
              </a:tblGrid>
              <a:tr h="2540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Total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Avg Daily Spend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Non-Moloco Installs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$5,882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$840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1,258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49,992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2.45%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$37,742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$1,217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7,148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223,265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3.10%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$46,172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$1,649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9,871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2,398,469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0.41%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$55,147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$4,242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13,101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2,469,120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0.53%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Mattel163_China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SOI Impact by App (Benchmark → Mar)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8412480" cy="40005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8100" cy="4000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2760" y="848360"/>
            <a:ext cx="8209280" cy="34925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700" b="0">
                <a:solidFill>
                  <a:srgbClr val="475569"/>
                </a:solidFill>
                <a:latin typeface="Calibri"/>
              </a:defRPr>
            </a:pPr>
            <a:r>
              <a:t>SOI Impact = change in app's Moloco install share of total installs. Negative = unattributed installs growing faster. Highlighted = top spend apps (&gt;=10% share).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14450"/>
          <a:ext cx="8412475" cy="6858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850745"/>
                <a:gridCol w="925372"/>
                <a:gridCol w="925372"/>
                <a:gridCol w="1009497"/>
                <a:gridCol w="1345996"/>
                <a:gridCol w="1009497"/>
                <a:gridCol w="1345996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SOI Chg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Spend %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Impact (pp)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UNO!™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0.41%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+0.41%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$1,997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47.1%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+0.388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Skip-Bo™: Solitaire Card Game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2.45%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3.19%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6833A"/>
                          </a:solidFill>
                          <a:latin typeface="Calibri"/>
                        </a:defRPr>
                      </a:pPr>
                      <a:r>
                        <a:t>+0.74%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$2,246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52.9%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-2.315</a:t>
                      </a:r>
                    </a:p>
                  </a:txBody>
                  <a:tcPr anchor="ctr" marL="50800" marR="50800" marT="12700" marB="12700">
                    <a:solidFill>
                      <a:srgbClr val="FFFDE7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Mattel163_China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SOI vs Spend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"/>
            <a:ext cx="8412480" cy="3175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600" b="1">
                <a:solidFill>
                  <a:srgbClr val="23272F"/>
                </a:solidFill>
                <a:latin typeface="Calibri"/>
              </a:defRPr>
            </a:pPr>
            <a:r>
              <a:t>Mattel163_China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App-Level Data: Benchmark vs Monthly Trend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8412473" cy="60960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1430121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  <a:gridCol w="872794"/>
              </a:tblGrid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BM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Jan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Feb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DRR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Mar SOI</a:t>
                      </a:r>
                    </a:p>
                  </a:txBody>
                  <a:tcPr anchor="ctr" marL="50800" marR="50800" marT="25400" marB="25400">
                    <a:solidFill>
                      <a:srgbClr val="E8F0FE"/>
                    </a:solidFill>
                    <a:lnB w="9525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Skip-Bo™: Solitaire Card 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$840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2.45%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$1,217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3.10%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$1,448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$2,246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3.19%</a:t>
                      </a:r>
                    </a:p>
                  </a:txBody>
                  <a:tcPr anchor="ctr" marL="50800" marR="50800" marT="12700" marB="12700">
                    <a:solidFill>
                      <a:srgbClr val="FFFFFF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UNO!™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9CA3A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$511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0.09%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$1,997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23272F"/>
                          </a:solidFill>
                          <a:latin typeface="Calibri"/>
                        </a:defRPr>
                      </a:pPr>
                      <a:r>
                        <a:t>0.41%</a:t>
                      </a:r>
                    </a:p>
                  </a:txBody>
                  <a:tcPr anchor="ctr" marL="50800" marR="50800" marT="12700" marB="12700">
                    <a:solidFill>
                      <a:srgbClr val="F8FAFC"/>
                    </a:solidFill>
                    <a:lnB w="3810" cmpd="sng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025 Sales Deck Template">
  <a:themeElements>
    <a:clrScheme name="Simple Light">
      <a:dk1>
        <a:srgbClr val="040078"/>
      </a:dk1>
      <a:lt1>
        <a:srgbClr val="FFFFFF"/>
      </a:lt1>
      <a:dk2>
        <a:srgbClr val="0280FB"/>
      </a:dk2>
      <a:lt2>
        <a:srgbClr val="D8DADC"/>
      </a:lt2>
      <a:accent1>
        <a:srgbClr val="808080"/>
      </a:accent1>
      <a:accent2>
        <a:srgbClr val="ADD7F4"/>
      </a:accent2>
      <a:accent3>
        <a:srgbClr val="3504FF"/>
      </a:accent3>
      <a:accent4>
        <a:srgbClr val="000000"/>
      </a:accent4>
      <a:accent5>
        <a:srgbClr val="FED505"/>
      </a:accent5>
      <a:accent6>
        <a:srgbClr val="FCAF07"/>
      </a:accent6>
      <a:hlink>
        <a:srgbClr val="0280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